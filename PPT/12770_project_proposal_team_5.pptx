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9DC6A7C-5F81-4CA5-BC43-22D7C5A58B81}">
  <a:tblStyle styleId="{49DC6A7C-5F81-4CA5-BC43-22D7C5A58B8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ca390760a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ca390760a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ca390760a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ca390760a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ca390760a0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ca390760a0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ca390760a0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ca390760a0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2327975"/>
            <a:ext cx="8520600" cy="100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780"/>
              <a:t>12770 – </a:t>
            </a:r>
            <a:r>
              <a:rPr b="1" lang="en" sz="3780"/>
              <a:t>Predictive Thermal Comfort Management for Dynamically Occupied Spaces</a:t>
            </a:r>
            <a:endParaRPr b="1" sz="3780"/>
          </a:p>
        </p:txBody>
      </p:sp>
      <p:sp>
        <p:nvSpPr>
          <p:cNvPr id="55" name="Google Shape;55;p13"/>
          <p:cNvSpPr txBox="1"/>
          <p:nvPr>
            <p:ph type="ctrTitle"/>
          </p:nvPr>
        </p:nvSpPr>
        <p:spPr>
          <a:xfrm>
            <a:off x="1915950" y="3755463"/>
            <a:ext cx="5312100" cy="37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Group 5: </a:t>
            </a:r>
            <a:r>
              <a:rPr b="1" lang="en" sz="2000"/>
              <a:t>Tanghao Chen, </a:t>
            </a:r>
            <a:r>
              <a:rPr b="1" lang="en" sz="2000"/>
              <a:t>Yizhen Xu, Zexi Yin</a:t>
            </a:r>
            <a:endParaRPr b="1" sz="2000"/>
          </a:p>
        </p:txBody>
      </p:sp>
      <p:sp>
        <p:nvSpPr>
          <p:cNvPr id="56" name="Google Shape;56;p13"/>
          <p:cNvSpPr txBox="1"/>
          <p:nvPr>
            <p:ph type="ctrTitle"/>
          </p:nvPr>
        </p:nvSpPr>
        <p:spPr>
          <a:xfrm>
            <a:off x="48000" y="4772700"/>
            <a:ext cx="9048000" cy="37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000"/>
              <a:t>12770- Special Topics: </a:t>
            </a:r>
            <a:r>
              <a:rPr i="1" lang="en" sz="2000"/>
              <a:t>Autonomous</a:t>
            </a:r>
            <a:r>
              <a:rPr i="1" lang="en" sz="2000"/>
              <a:t> Sustainable Buildings: From Theory to Practice</a:t>
            </a:r>
            <a:endParaRPr i="1"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0" y="0"/>
            <a:ext cx="4260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highlight>
                  <a:srgbClr val="FFFFFF"/>
                </a:highlight>
              </a:rPr>
              <a:t>The problem we are solving</a:t>
            </a:r>
            <a:endParaRPr b="1" sz="4000"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5176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Problem Statement：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50">
                <a:solidFill>
                  <a:schemeClr val="dk1"/>
                </a:solidFill>
              </a:rPr>
              <a:t>Under low-cost, single-point sensor conditions, can historical temperature and humidity time-series characteristics be used to predict thermal discomfort events in semi-public spaces (such as study rooms) where personnel density dynamically changes?</a:t>
            </a:r>
            <a:endParaRPr sz="11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Why it matters:</a:t>
            </a:r>
            <a:endParaRPr b="1" sz="1500">
              <a:solidFill>
                <a:schemeClr val="dk1"/>
              </a:solidFill>
            </a:endParaRPr>
          </a:p>
          <a:p>
            <a:pPr indent="-301625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50"/>
              <a:buChar char="●"/>
            </a:pPr>
            <a:r>
              <a:rPr lang="en" sz="1150">
                <a:solidFill>
                  <a:schemeClr val="dk1"/>
                </a:solidFill>
              </a:rPr>
              <a:t>Discomfort from heat affects concentration and learning efficiency.</a:t>
            </a:r>
            <a:endParaRPr sz="1150">
              <a:solidFill>
                <a:schemeClr val="dk1"/>
              </a:solidFill>
            </a:endParaRPr>
          </a:p>
          <a:p>
            <a:pPr indent="-3016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Char char="●"/>
            </a:pPr>
            <a:r>
              <a:rPr lang="en" sz="1150">
                <a:solidFill>
                  <a:schemeClr val="dk1"/>
                </a:solidFill>
              </a:rPr>
              <a:t>Existing conventional solutions (manual adjustments) are slow to respond, inconsistent, and non-quantifiable.</a:t>
            </a:r>
            <a:endParaRPr sz="11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The Sense-Plan-Act Gap: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graphicFrame>
        <p:nvGraphicFramePr>
          <p:cNvPr id="63" name="Google Shape;63;p14"/>
          <p:cNvGraphicFramePr/>
          <p:nvPr/>
        </p:nvGraphicFramePr>
        <p:xfrm>
          <a:off x="735113" y="2832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{49DC6A7C-5F81-4CA5-BC43-22D7C5A58B81}</a:tableStyleId>
              </a:tblPr>
              <a:tblGrid>
                <a:gridCol w="2557925"/>
                <a:gridCol w="2557925"/>
                <a:gridCol w="2557925"/>
              </a:tblGrid>
              <a:tr h="268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5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en" sz="1150"/>
                        <a:t>Current Situatio</a:t>
                      </a:r>
                      <a:r>
                        <a:rPr b="1" lang="en" sz="1150"/>
                        <a:t>n</a:t>
                      </a:r>
                      <a:endParaRPr b="1" sz="115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50"/>
                        <a:t>Problem</a:t>
                      </a:r>
                      <a:endParaRPr b="1" sz="1150"/>
                    </a:p>
                  </a:txBody>
                  <a:tcPr marT="91425" marB="91425" marR="91425" marL="91425"/>
                </a:tc>
              </a:tr>
              <a:tr h="268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50"/>
                        <a:t>Sense</a:t>
                      </a:r>
                      <a:endParaRPr b="1" sz="115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50"/>
                        <a:t>Human Perception of Heat/Cold</a:t>
                      </a:r>
                      <a:endParaRPr sz="115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50"/>
                        <a:t>Lag, subjective</a:t>
                      </a:r>
                      <a:endParaRPr sz="1150"/>
                    </a:p>
                  </a:txBody>
                  <a:tcPr marT="91425" marB="91425" marR="91425" marL="91425"/>
                </a:tc>
              </a:tr>
              <a:tr h="399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50"/>
                        <a:t>Plan</a:t>
                      </a:r>
                      <a:endParaRPr b="1" sz="115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50"/>
                        <a:t>Make decision based on experience</a:t>
                      </a:r>
                      <a:endParaRPr sz="115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150"/>
                        <a:t>No prediction, random</a:t>
                      </a:r>
                      <a:endParaRPr sz="1150"/>
                    </a:p>
                  </a:txBody>
                  <a:tcPr marT="91425" marB="91425" marR="91425" marL="91425"/>
                </a:tc>
              </a:tr>
              <a:tr h="268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50"/>
                        <a:t>Act</a:t>
                      </a:r>
                      <a:endParaRPr b="1" sz="115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50"/>
                        <a:t>Manual adjustment</a:t>
                      </a:r>
                      <a:endParaRPr sz="115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5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64" name="Google Shape;64;p14"/>
          <p:cNvSpPr txBox="1"/>
          <p:nvPr/>
        </p:nvSpPr>
        <p:spPr>
          <a:xfrm>
            <a:off x="25" y="4305650"/>
            <a:ext cx="9144000" cy="8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Objective: </a:t>
            </a:r>
            <a:r>
              <a:rPr lang="en" sz="1150">
                <a:solidFill>
                  <a:schemeClr val="dk1"/>
                </a:solidFill>
              </a:rPr>
              <a:t>We plan to develop a low-cost system (combining low-cost sensors with machine learning technology) that can predict rising temperatures in study rooms before they reach uncomfortable levels—that is, before people even notice—and automatically propose corrective measures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0" y="0"/>
            <a:ext cx="3117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highlight>
                  <a:srgbClr val="FFFFFF"/>
                </a:highlight>
              </a:rPr>
              <a:t>Proposed Solution</a:t>
            </a:r>
            <a:endParaRPr b="1" sz="2500"/>
          </a:p>
        </p:txBody>
      </p:sp>
      <p:sp>
        <p:nvSpPr>
          <p:cNvPr id="70" name="Google Shape;70;p15"/>
          <p:cNvSpPr txBox="1"/>
          <p:nvPr/>
        </p:nvSpPr>
        <p:spPr>
          <a:xfrm>
            <a:off x="1571525" y="918425"/>
            <a:ext cx="1833900" cy="538800"/>
          </a:xfrm>
          <a:prstGeom prst="rect">
            <a:avLst/>
          </a:prstGeom>
          <a:solidFill>
            <a:srgbClr val="18803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chemeClr val="dk1"/>
                </a:solidFill>
              </a:rPr>
              <a:t>IKEA TIMMERFLOTTE</a:t>
            </a:r>
            <a:endParaRPr b="1" sz="115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dk1"/>
                </a:solidFill>
              </a:rPr>
              <a:t>Sense T, RH</a:t>
            </a:r>
            <a:endParaRPr sz="1150">
              <a:solidFill>
                <a:schemeClr val="dk1"/>
              </a:solidFill>
            </a:endParaRPr>
          </a:p>
        </p:txBody>
      </p:sp>
      <p:sp>
        <p:nvSpPr>
          <p:cNvPr id="71" name="Google Shape;71;p15"/>
          <p:cNvSpPr/>
          <p:nvPr/>
        </p:nvSpPr>
        <p:spPr>
          <a:xfrm>
            <a:off x="3424359" y="1091775"/>
            <a:ext cx="1149300" cy="272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18803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5"/>
          <p:cNvSpPr txBox="1"/>
          <p:nvPr/>
        </p:nvSpPr>
        <p:spPr>
          <a:xfrm>
            <a:off x="3365750" y="496725"/>
            <a:ext cx="11493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chemeClr val="dk1"/>
                </a:solidFill>
              </a:rPr>
              <a:t>ZBT-2</a:t>
            </a:r>
            <a:endParaRPr b="1" sz="115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dk1"/>
                </a:solidFill>
              </a:rPr>
              <a:t>Connect via Matter/Thread</a:t>
            </a:r>
            <a:endParaRPr sz="1150">
              <a:solidFill>
                <a:schemeClr val="dk1"/>
              </a:solidFill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4603275" y="918425"/>
            <a:ext cx="1977000" cy="538800"/>
          </a:xfrm>
          <a:prstGeom prst="rect">
            <a:avLst/>
          </a:prstGeom>
          <a:solidFill>
            <a:srgbClr val="18803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chemeClr val="dk1"/>
                </a:solidFill>
              </a:rPr>
              <a:t>Home Assistant Green</a:t>
            </a:r>
            <a:endParaRPr b="1" sz="115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dk1"/>
                </a:solidFill>
              </a:rPr>
              <a:t>Log time-stamped history</a:t>
            </a:r>
            <a:endParaRPr sz="1150">
              <a:solidFill>
                <a:schemeClr val="dk1"/>
              </a:solidFill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0" y="1490575"/>
            <a:ext cx="1653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Data Pipeline: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3442400" y="2048925"/>
            <a:ext cx="996000" cy="272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18803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5"/>
          <p:cNvSpPr txBox="1"/>
          <p:nvPr/>
        </p:nvSpPr>
        <p:spPr>
          <a:xfrm>
            <a:off x="1626414" y="1915875"/>
            <a:ext cx="1724100" cy="538800"/>
          </a:xfrm>
          <a:prstGeom prst="rect">
            <a:avLst/>
          </a:prstGeom>
          <a:solidFill>
            <a:srgbClr val="18803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chemeClr val="dk1"/>
                </a:solidFill>
              </a:rPr>
              <a:t>Study Room User Feedback (QR Code)</a:t>
            </a:r>
            <a:endParaRPr sz="1150">
              <a:solidFill>
                <a:schemeClr val="dk1"/>
              </a:solidFill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4530275" y="1775206"/>
            <a:ext cx="1977000" cy="892800"/>
          </a:xfrm>
          <a:prstGeom prst="rect">
            <a:avLst/>
          </a:prstGeom>
          <a:solidFill>
            <a:srgbClr val="18803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rgbClr val="FF0000"/>
                </a:solidFill>
              </a:rPr>
              <a:t>Output (</a:t>
            </a:r>
            <a:r>
              <a:rPr b="1" i="1" lang="en" sz="115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1" lang="en" sz="1150">
                <a:solidFill>
                  <a:srgbClr val="FF0000"/>
                </a:solidFill>
              </a:rPr>
              <a:t>):</a:t>
            </a:r>
            <a:endParaRPr b="1" sz="1150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dk1"/>
                </a:solidFill>
              </a:rPr>
              <a:t>User report at t</a:t>
            </a:r>
            <a:endParaRPr sz="115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dk1"/>
                </a:solidFill>
              </a:rPr>
              <a:t>hot/stuffy: </a:t>
            </a:r>
            <a:r>
              <a:rPr i="1" lang="en" sz="11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150">
                <a:solidFill>
                  <a:schemeClr val="dk1"/>
                </a:solidFill>
              </a:rPr>
              <a:t> = 1</a:t>
            </a:r>
            <a:endParaRPr sz="115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50">
                <a:solidFill>
                  <a:schemeClr val="dk1"/>
                </a:solidFill>
              </a:rPr>
              <a:t>Otherwise: </a:t>
            </a:r>
            <a:r>
              <a:rPr i="1" lang="en" sz="11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150">
                <a:solidFill>
                  <a:schemeClr val="dk1"/>
                </a:solidFill>
              </a:rPr>
              <a:t> = 0</a:t>
            </a:r>
            <a:endParaRPr sz="1150">
              <a:solidFill>
                <a:schemeClr val="dk1"/>
              </a:solidFill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7151325" y="829925"/>
            <a:ext cx="1826700" cy="715800"/>
          </a:xfrm>
          <a:prstGeom prst="rect">
            <a:avLst/>
          </a:prstGeom>
          <a:solidFill>
            <a:srgbClr val="18803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rgbClr val="FF0000"/>
                </a:solidFill>
              </a:rPr>
              <a:t>Input (</a:t>
            </a:r>
            <a:r>
              <a:rPr b="1" i="1" lang="en" sz="115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1" lang="en" sz="1150">
                <a:solidFill>
                  <a:srgbClr val="FF0000"/>
                </a:solidFill>
              </a:rPr>
              <a:t>):</a:t>
            </a:r>
            <a:endParaRPr b="1" sz="1150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dk1"/>
                </a:solidFill>
              </a:rPr>
              <a:t>30-min window features</a:t>
            </a:r>
            <a:endParaRPr sz="115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T, RH, t, ΔT_30, ΔRH_30</a:t>
            </a:r>
            <a:endParaRPr i="1" sz="11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" name="Google Shape;79;p15"/>
          <p:cNvSpPr/>
          <p:nvPr/>
        </p:nvSpPr>
        <p:spPr>
          <a:xfrm>
            <a:off x="6609900" y="1056900"/>
            <a:ext cx="511800" cy="272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18803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5"/>
          <p:cNvSpPr/>
          <p:nvPr/>
        </p:nvSpPr>
        <p:spPr>
          <a:xfrm>
            <a:off x="6543540" y="2048925"/>
            <a:ext cx="730200" cy="272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80000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5"/>
          <p:cNvSpPr/>
          <p:nvPr/>
        </p:nvSpPr>
        <p:spPr>
          <a:xfrm rot="5400000">
            <a:off x="7944975" y="1594024"/>
            <a:ext cx="301200" cy="250800"/>
          </a:xfrm>
          <a:prstGeom prst="rightArrow">
            <a:avLst>
              <a:gd fmla="val 69151" name="adj1"/>
              <a:gd fmla="val 50000" name="adj2"/>
            </a:avLst>
          </a:prstGeom>
          <a:solidFill>
            <a:srgbClr val="98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5"/>
          <p:cNvSpPr txBox="1"/>
          <p:nvPr/>
        </p:nvSpPr>
        <p:spPr>
          <a:xfrm>
            <a:off x="7310000" y="1863688"/>
            <a:ext cx="1567200" cy="715800"/>
          </a:xfrm>
          <a:prstGeom prst="rect">
            <a:avLst/>
          </a:prstGeom>
          <a:solidFill>
            <a:srgbClr val="9800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/>
              <a:t>Training Dataset:</a:t>
            </a:r>
            <a:endParaRPr b="1" sz="115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/>
              <a:t>Features + Labels</a:t>
            </a:r>
            <a:endParaRPr sz="115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5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" sz="1150"/>
              <a:t>([t-60, t-30]) + </a:t>
            </a:r>
            <a:r>
              <a:rPr i="1" lang="en" sz="1150"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" sz="1150"/>
              <a:t>(t)</a:t>
            </a:r>
            <a:endParaRPr sz="1150"/>
          </a:p>
        </p:txBody>
      </p:sp>
      <p:sp>
        <p:nvSpPr>
          <p:cNvPr id="83" name="Google Shape;83;p15"/>
          <p:cNvSpPr txBox="1"/>
          <p:nvPr/>
        </p:nvSpPr>
        <p:spPr>
          <a:xfrm>
            <a:off x="0" y="2723738"/>
            <a:ext cx="7078500" cy="12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Model:</a:t>
            </a:r>
            <a:endParaRPr b="1" sz="1500">
              <a:solidFill>
                <a:schemeClr val="dk1"/>
              </a:solidFill>
            </a:endParaRPr>
          </a:p>
          <a:p>
            <a:pPr indent="-30162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Char char="●"/>
            </a:pPr>
            <a:r>
              <a:rPr b="1" lang="en" sz="1150">
                <a:solidFill>
                  <a:schemeClr val="dk1"/>
                </a:solidFill>
              </a:rPr>
              <a:t>Train </a:t>
            </a:r>
            <a:r>
              <a:rPr lang="en" sz="1150">
                <a:solidFill>
                  <a:schemeClr val="dk1"/>
                </a:solidFill>
              </a:rPr>
              <a:t>Logistic Regression / XGBoost</a:t>
            </a:r>
            <a:endParaRPr sz="1150">
              <a:solidFill>
                <a:schemeClr val="dk1"/>
              </a:solidFill>
            </a:endParaRPr>
          </a:p>
          <a:p>
            <a:pPr indent="-30162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Char char="●"/>
            </a:pPr>
            <a:r>
              <a:rPr b="1" lang="en" sz="1150">
                <a:solidFill>
                  <a:schemeClr val="dk1"/>
                </a:solidFill>
              </a:rPr>
              <a:t>Model Output:</a:t>
            </a:r>
            <a:r>
              <a:rPr lang="en" sz="1150">
                <a:solidFill>
                  <a:schemeClr val="dk1"/>
                </a:solidFill>
              </a:rPr>
              <a:t> </a:t>
            </a:r>
            <a:r>
              <a:rPr i="1" lang="en" sz="11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 </a:t>
            </a:r>
            <a:r>
              <a:rPr lang="en" sz="1150">
                <a:solidFill>
                  <a:schemeClr val="dk1"/>
                </a:solidFill>
              </a:rPr>
              <a:t>= </a:t>
            </a:r>
            <a:r>
              <a:rPr b="1" i="1" lang="en" sz="1150">
                <a:solidFill>
                  <a:schemeClr val="dk1"/>
                </a:solidFill>
              </a:rPr>
              <a:t>P </a:t>
            </a:r>
            <a:r>
              <a:rPr b="1" lang="en" sz="1150">
                <a:solidFill>
                  <a:schemeClr val="dk1"/>
                </a:solidFill>
              </a:rPr>
              <a:t>( </a:t>
            </a:r>
            <a:r>
              <a:rPr b="1" i="1" lang="en" sz="11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b="1" lang="en" sz="11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(t + 30)</a:t>
            </a:r>
            <a:r>
              <a:rPr b="1" lang="en" sz="1150">
                <a:solidFill>
                  <a:schemeClr val="dk1"/>
                </a:solidFill>
              </a:rPr>
              <a:t> = 1 ∣ X ([t-30, t]) )</a:t>
            </a:r>
            <a:r>
              <a:rPr lang="en" sz="1150">
                <a:solidFill>
                  <a:schemeClr val="dk1"/>
                </a:solidFill>
              </a:rPr>
              <a:t> – discomfort risk in next 30 min</a:t>
            </a:r>
            <a:endParaRPr sz="1150">
              <a:solidFill>
                <a:schemeClr val="dk1"/>
              </a:solidFill>
            </a:endParaRPr>
          </a:p>
          <a:p>
            <a:pPr indent="-30162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Char char="●"/>
            </a:pPr>
            <a:r>
              <a:rPr b="1" lang="en" sz="1150">
                <a:solidFill>
                  <a:schemeClr val="dk1"/>
                </a:solidFill>
              </a:rPr>
              <a:t>Plan:</a:t>
            </a:r>
            <a:r>
              <a:rPr lang="en" sz="1150">
                <a:solidFill>
                  <a:schemeClr val="dk1"/>
                </a:solidFill>
              </a:rPr>
              <a:t> Map </a:t>
            </a:r>
            <a:r>
              <a:rPr b="1" i="1" lang="en" sz="11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" sz="1150">
                <a:solidFill>
                  <a:schemeClr val="dk1"/>
                </a:solidFill>
              </a:rPr>
              <a:t> → Low / Mid / High</a:t>
            </a:r>
            <a:endParaRPr sz="1150">
              <a:solidFill>
                <a:schemeClr val="dk1"/>
              </a:solidFill>
            </a:endParaRPr>
          </a:p>
        </p:txBody>
      </p:sp>
      <p:sp>
        <p:nvSpPr>
          <p:cNvPr id="84" name="Google Shape;84;p15"/>
          <p:cNvSpPr txBox="1"/>
          <p:nvPr/>
        </p:nvSpPr>
        <p:spPr>
          <a:xfrm>
            <a:off x="0" y="4076400"/>
            <a:ext cx="8375100" cy="9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Action</a:t>
            </a:r>
            <a:r>
              <a:rPr b="1" lang="en" sz="1500">
                <a:solidFill>
                  <a:schemeClr val="dk1"/>
                </a:solidFill>
              </a:rPr>
              <a:t>:</a:t>
            </a:r>
            <a:endParaRPr b="1" sz="1500">
              <a:solidFill>
                <a:schemeClr val="dk1"/>
              </a:solidFill>
            </a:endParaRPr>
          </a:p>
          <a:p>
            <a:pPr indent="-30162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Char char="●"/>
            </a:pPr>
            <a:r>
              <a:rPr lang="en" sz="1150">
                <a:solidFill>
                  <a:schemeClr val="dk1"/>
                </a:solidFill>
              </a:rPr>
              <a:t>If </a:t>
            </a:r>
            <a:r>
              <a:rPr b="1" lang="en" sz="1150">
                <a:solidFill>
                  <a:schemeClr val="dk1"/>
                </a:solidFill>
              </a:rPr>
              <a:t>High </a:t>
            </a:r>
            <a:r>
              <a:rPr b="1" lang="en" sz="1150">
                <a:solidFill>
                  <a:schemeClr val="dk1"/>
                </a:solidFill>
              </a:rPr>
              <a:t>risk</a:t>
            </a:r>
            <a:r>
              <a:rPr lang="en" sz="1150">
                <a:solidFill>
                  <a:schemeClr val="dk1"/>
                </a:solidFill>
              </a:rPr>
              <a:t> → Push alert (HA Voice announcement)</a:t>
            </a:r>
            <a:endParaRPr sz="1150">
              <a:solidFill>
                <a:schemeClr val="dk1"/>
              </a:solidFill>
            </a:endParaRPr>
          </a:p>
          <a:p>
            <a:pPr indent="-30162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Char char="●"/>
            </a:pPr>
            <a:r>
              <a:rPr lang="en" sz="1150">
                <a:solidFill>
                  <a:schemeClr val="dk1"/>
                </a:solidFill>
              </a:rPr>
              <a:t>Standard guidance: </a:t>
            </a:r>
            <a:r>
              <a:rPr b="1" lang="en" sz="1150">
                <a:solidFill>
                  <a:schemeClr val="dk1"/>
                </a:solidFill>
              </a:rPr>
              <a:t>AC</a:t>
            </a:r>
            <a:r>
              <a:rPr lang="en" sz="1150">
                <a:solidFill>
                  <a:schemeClr val="dk1"/>
                </a:solidFill>
              </a:rPr>
              <a:t> strong airflow for 10 mins + avoid frequent </a:t>
            </a:r>
            <a:r>
              <a:rPr b="1" lang="en" sz="1150">
                <a:solidFill>
                  <a:schemeClr val="dk1"/>
                </a:solidFill>
              </a:rPr>
              <a:t>window</a:t>
            </a:r>
            <a:r>
              <a:rPr lang="en" sz="1150">
                <a:solidFill>
                  <a:schemeClr val="dk1"/>
                </a:solidFill>
              </a:rPr>
              <a:t> o</a:t>
            </a:r>
            <a:r>
              <a:rPr lang="en" sz="1150">
                <a:solidFill>
                  <a:schemeClr val="dk1"/>
                </a:solidFill>
              </a:rPr>
              <a:t>pen/close</a:t>
            </a:r>
            <a:endParaRPr sz="1150">
              <a:solidFill>
                <a:schemeClr val="dk1"/>
              </a:solidFill>
            </a:endParaRPr>
          </a:p>
        </p:txBody>
      </p:sp>
      <p:cxnSp>
        <p:nvCxnSpPr>
          <p:cNvPr id="85" name="Google Shape;85;p15"/>
          <p:cNvCxnSpPr/>
          <p:nvPr/>
        </p:nvCxnSpPr>
        <p:spPr>
          <a:xfrm>
            <a:off x="-1350" y="2716768"/>
            <a:ext cx="9146700" cy="26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" name="Google Shape;86;p15"/>
          <p:cNvCxnSpPr/>
          <p:nvPr/>
        </p:nvCxnSpPr>
        <p:spPr>
          <a:xfrm>
            <a:off x="-9875" y="4042683"/>
            <a:ext cx="9146700" cy="26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7" name="Google Shape;87;p15" title="time_alignment_timeline_minimal_extra_bol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99450" y="2804157"/>
            <a:ext cx="3431224" cy="1238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/>
          <p:nvPr>
            <p:ph type="title"/>
          </p:nvPr>
        </p:nvSpPr>
        <p:spPr>
          <a:xfrm>
            <a:off x="0" y="0"/>
            <a:ext cx="7594200" cy="12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highlight>
                  <a:srgbClr val="FFFFFF"/>
                </a:highlight>
              </a:rPr>
              <a:t>System V</a:t>
            </a:r>
            <a:r>
              <a:rPr b="1" lang="en" sz="2500">
                <a:highlight>
                  <a:srgbClr val="FFFFFF"/>
                </a:highlight>
              </a:rPr>
              <a:t>alidation &amp; Evaluation Framework</a:t>
            </a:r>
            <a:endParaRPr b="1" sz="2500">
              <a:highlight>
                <a:srgbClr val="FFFFFF"/>
              </a:highlight>
            </a:endParaRPr>
          </a:p>
        </p:txBody>
      </p:sp>
      <p:sp>
        <p:nvSpPr>
          <p:cNvPr id="93" name="Google Shape;93;p16"/>
          <p:cNvSpPr txBox="1"/>
          <p:nvPr>
            <p:ph idx="1" type="body"/>
          </p:nvPr>
        </p:nvSpPr>
        <p:spPr>
          <a:xfrm>
            <a:off x="0" y="994188"/>
            <a:ext cx="4614300" cy="147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58">
                <a:solidFill>
                  <a:schemeClr val="dk1"/>
                </a:solidFill>
              </a:rPr>
              <a:t>1. Two-Week A/B Testing</a:t>
            </a:r>
            <a:endParaRPr b="1" sz="1958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Week 1 (Baseline):</a:t>
            </a:r>
            <a:r>
              <a:rPr lang="en" sz="1500">
                <a:solidFill>
                  <a:schemeClr val="dk1"/>
                </a:solidFill>
              </a:rPr>
              <a:t> Logging data only; no system intervention.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Week 2 (Intervention):</a:t>
            </a:r>
            <a:r>
              <a:rPr lang="en" sz="1500">
                <a:solidFill>
                  <a:schemeClr val="dk1"/>
                </a:solidFill>
              </a:rPr>
              <a:t> Active control + proactive AI prompts.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Metric:</a:t>
            </a:r>
            <a:r>
              <a:rPr lang="en" sz="1500">
                <a:solidFill>
                  <a:schemeClr val="dk1"/>
                </a:solidFill>
              </a:rPr>
              <a:t> Reduction in manual adjustments &amp; discomfort duration.</a:t>
            </a:r>
            <a:endParaRPr sz="1500"/>
          </a:p>
        </p:txBody>
      </p:sp>
      <p:sp>
        <p:nvSpPr>
          <p:cNvPr id="94" name="Google Shape;94;p16"/>
          <p:cNvSpPr txBox="1"/>
          <p:nvPr/>
        </p:nvSpPr>
        <p:spPr>
          <a:xfrm>
            <a:off x="4572000" y="1039600"/>
            <a:ext cx="4476900" cy="14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2. Offline Model Validation</a:t>
            </a:r>
            <a:endParaRPr b="1" sz="15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chemeClr val="dk1"/>
                </a:solidFill>
              </a:rPr>
              <a:t>Method:</a:t>
            </a:r>
            <a:r>
              <a:rPr lang="en" sz="1150">
                <a:solidFill>
                  <a:schemeClr val="dk1"/>
                </a:solidFill>
              </a:rPr>
              <a:t> Time-series split (Train: first 10 days / Test: last 4 days).</a:t>
            </a:r>
            <a:endParaRPr sz="115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chemeClr val="dk1"/>
                </a:solidFill>
              </a:rPr>
              <a:t>Task:</a:t>
            </a:r>
            <a:r>
              <a:rPr lang="en" sz="1150">
                <a:solidFill>
                  <a:schemeClr val="dk1"/>
                </a:solidFill>
              </a:rPr>
              <a:t> Predict discomfort events 30 minutes in advance.</a:t>
            </a:r>
            <a:endParaRPr sz="115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150">
                <a:solidFill>
                  <a:schemeClr val="dk1"/>
                </a:solidFill>
              </a:rPr>
              <a:t>Goal:</a:t>
            </a:r>
            <a:r>
              <a:rPr lang="en" sz="1150">
                <a:solidFill>
                  <a:schemeClr val="dk1"/>
                </a:solidFill>
              </a:rPr>
              <a:t> High precision and recall in environmental forecasting.</a:t>
            </a:r>
            <a:endParaRPr sz="1150">
              <a:solidFill>
                <a:schemeClr val="dk1"/>
              </a:solidFill>
            </a:endParaRPr>
          </a:p>
        </p:txBody>
      </p:sp>
      <p:sp>
        <p:nvSpPr>
          <p:cNvPr id="95" name="Google Shape;95;p16"/>
          <p:cNvSpPr txBox="1"/>
          <p:nvPr/>
        </p:nvSpPr>
        <p:spPr>
          <a:xfrm>
            <a:off x="0" y="3104125"/>
            <a:ext cx="4614300" cy="10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3</a:t>
            </a:r>
            <a:r>
              <a:rPr b="1" lang="en" sz="1500">
                <a:solidFill>
                  <a:schemeClr val="dk1"/>
                </a:solidFill>
              </a:rPr>
              <a:t>. Ground Truth Calibration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chemeClr val="dk1"/>
                </a:solidFill>
              </a:rPr>
              <a:t>Sampling: </a:t>
            </a:r>
            <a:r>
              <a:rPr lang="en" sz="1150">
                <a:solidFill>
                  <a:schemeClr val="dk1"/>
                </a:solidFill>
              </a:rPr>
              <a:t>Subjective feedback 3 times daily (Morning/Noon/Night).</a:t>
            </a:r>
            <a:endParaRPr sz="115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1200"/>
              </a:spcAft>
              <a:buNone/>
            </a:pPr>
            <a:r>
              <a:rPr b="1" lang="en" sz="1150">
                <a:solidFill>
                  <a:schemeClr val="dk1"/>
                </a:solidFill>
              </a:rPr>
              <a:t>Purpose:</a:t>
            </a:r>
            <a:r>
              <a:rPr lang="en" sz="1150">
                <a:solidFill>
                  <a:schemeClr val="dk1"/>
                </a:solidFill>
              </a:rPr>
              <a:t> Verify sensor accuracy vs. human perception</a:t>
            </a:r>
            <a:endParaRPr sz="1150">
              <a:solidFill>
                <a:schemeClr val="dk1"/>
              </a:solidFill>
            </a:endParaRPr>
          </a:p>
        </p:txBody>
      </p:sp>
      <p:sp>
        <p:nvSpPr>
          <p:cNvPr id="96" name="Google Shape;96;p16"/>
          <p:cNvSpPr txBox="1"/>
          <p:nvPr/>
        </p:nvSpPr>
        <p:spPr>
          <a:xfrm>
            <a:off x="4572000" y="3104125"/>
            <a:ext cx="4476900" cy="14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4. Energy Efficiency Analysis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chemeClr val="dk1"/>
                </a:solidFill>
              </a:rPr>
              <a:t>Monitoring:</a:t>
            </a:r>
            <a:r>
              <a:rPr lang="en" sz="1150">
                <a:solidFill>
                  <a:schemeClr val="dk1"/>
                </a:solidFill>
              </a:rPr>
              <a:t> Real-time power tracking via smart plugs.</a:t>
            </a:r>
            <a:endParaRPr sz="11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chemeClr val="dk1"/>
                </a:solidFill>
              </a:rPr>
              <a:t>Metric:</a:t>
            </a:r>
            <a:r>
              <a:rPr lang="en" sz="1150">
                <a:solidFill>
                  <a:schemeClr val="dk1"/>
                </a:solidFill>
              </a:rPr>
              <a:t> Energy saved per "Comfort Hour."</a:t>
            </a:r>
            <a:endParaRPr sz="11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150">
                <a:solidFill>
                  <a:schemeClr val="dk1"/>
                </a:solidFill>
              </a:rPr>
              <a:t>Goal: </a:t>
            </a:r>
            <a:r>
              <a:rPr lang="en" sz="1150">
                <a:solidFill>
                  <a:schemeClr val="dk1"/>
                </a:solidFill>
              </a:rPr>
              <a:t>Optimize HVAC cycles without sacrificing comfort.</a:t>
            </a:r>
            <a:endParaRPr sz="115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highlight>
                  <a:srgbClr val="FFFFFF"/>
                </a:highlight>
              </a:rPr>
              <a:t>Excepted Challenges</a:t>
            </a:r>
            <a:endParaRPr b="1" sz="2500"/>
          </a:p>
        </p:txBody>
      </p:sp>
      <p:sp>
        <p:nvSpPr>
          <p:cNvPr id="102" name="Google Shape;102;p17"/>
          <p:cNvSpPr txBox="1"/>
          <p:nvPr>
            <p:ph idx="1" type="body"/>
          </p:nvPr>
        </p:nvSpPr>
        <p:spPr>
          <a:xfrm>
            <a:off x="-75" y="607200"/>
            <a:ext cx="9144000" cy="45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Hardwares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The placement of sensor may affects data quality.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Single-point sensors have limited representativeness.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Data Collection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Collect data consistently over a continuous period (e.g., 2 weeks)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The dataset size may be small, which could affect the model's generalization ability.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Modeling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Risk of Overfitting in Small Datasets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On-premises deployment for real-time reasoning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We are developing optimization strategies for each challenge and expect to manage these challenges within the scope of the project.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